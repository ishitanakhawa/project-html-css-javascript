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Montserrat"/>
      <p:regular r:id="rId13"/>
      <p:bold r:id="rId14"/>
      <p:italic r:id="rId15"/>
      <p:boldItalic r:id="rId16"/>
    </p:embeddedFont>
    <p:embeddedFont>
      <p:font typeface="Montserrat Medium"/>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Medium-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Montserrat-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italic.fntdata"/><Relationship Id="rId14" Type="http://schemas.openxmlformats.org/officeDocument/2006/relationships/font" Target="fonts/Montserrat-bold.fntdata"/><Relationship Id="rId17" Type="http://schemas.openxmlformats.org/officeDocument/2006/relationships/font" Target="fonts/MontserratMedium-regular.fntdata"/><Relationship Id="rId16" Type="http://schemas.openxmlformats.org/officeDocument/2006/relationships/font" Target="fonts/Montserrat-boldItalic.fntdata"/><Relationship Id="rId5" Type="http://schemas.openxmlformats.org/officeDocument/2006/relationships/notesMaster" Target="notesMasters/notesMaster1.xml"/><Relationship Id="rId19" Type="http://schemas.openxmlformats.org/officeDocument/2006/relationships/font" Target="fonts/MontserratMedium-italic.fntdata"/><Relationship Id="rId6" Type="http://schemas.openxmlformats.org/officeDocument/2006/relationships/slide" Target="slides/slide1.xml"/><Relationship Id="rId18" Type="http://schemas.openxmlformats.org/officeDocument/2006/relationships/font" Target="fonts/MontserratMedium-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ce532989e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ce532989e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ce532989e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ce532989e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ce532989eb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ce532989eb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ce532989eb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ce532989eb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e532989eb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ce532989eb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e532989eb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e532989eb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81B50"/>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1570500"/>
          </a:xfrm>
          <a:prstGeom prst="rect">
            <a:avLst/>
          </a:prstGeom>
        </p:spPr>
        <p:txBody>
          <a:bodyPr anchorCtr="0" anchor="t" bIns="91425" lIns="91425" spcFirstLastPara="1" rIns="91425" wrap="square" tIns="91425">
            <a:normAutofit fontScale="32500"/>
          </a:bodyPr>
          <a:lstStyle/>
          <a:p>
            <a:pPr indent="0" lvl="0" marL="0" rtl="0" algn="ctr">
              <a:spcBef>
                <a:spcPts val="0"/>
              </a:spcBef>
              <a:spcAft>
                <a:spcPts val="0"/>
              </a:spcAft>
              <a:buNone/>
            </a:pPr>
            <a:r>
              <a:rPr lang="en-GB" sz="9600">
                <a:solidFill>
                  <a:schemeClr val="dk1"/>
                </a:solidFill>
                <a:latin typeface="Montserrat Medium"/>
                <a:ea typeface="Montserrat Medium"/>
                <a:cs typeface="Montserrat Medium"/>
                <a:sym typeface="Montserrat Medium"/>
              </a:rPr>
              <a:t>InternPath: Internship Aggregator</a:t>
            </a:r>
            <a:endParaRPr sz="9600">
              <a:solidFill>
                <a:schemeClr val="dk1"/>
              </a:solidFill>
              <a:latin typeface="Montserrat Medium"/>
              <a:ea typeface="Montserrat Medium"/>
              <a:cs typeface="Montserrat Medium"/>
              <a:sym typeface="Montserrat Medium"/>
            </a:endParaRPr>
          </a:p>
          <a:p>
            <a:pPr indent="0" lvl="0" marL="0" rtl="0" algn="ctr">
              <a:spcBef>
                <a:spcPts val="0"/>
              </a:spcBef>
              <a:spcAft>
                <a:spcPts val="0"/>
              </a:spcAft>
              <a:buNone/>
            </a:pPr>
            <a:r>
              <a:rPr lang="en-GB" sz="4016">
                <a:solidFill>
                  <a:schemeClr val="dk1"/>
                </a:solidFill>
                <a:latin typeface="Montserrat Medium"/>
                <a:ea typeface="Montserrat Medium"/>
                <a:cs typeface="Montserrat Medium"/>
                <a:sym typeface="Montserrat Medium"/>
              </a:rPr>
              <a:t>By Ishita Nakhawa</a:t>
            </a:r>
            <a:endParaRPr sz="4016">
              <a:solidFill>
                <a:schemeClr val="dk1"/>
              </a:solidFill>
              <a:latin typeface="Montserrat Medium"/>
              <a:ea typeface="Montserrat Medium"/>
              <a:cs typeface="Montserrat Medium"/>
              <a:sym typeface="Montserrat Medium"/>
            </a:endParaRPr>
          </a:p>
          <a:p>
            <a:pPr indent="0" lvl="0" marL="0" rtl="0" algn="ctr">
              <a:spcBef>
                <a:spcPts val="0"/>
              </a:spcBef>
              <a:spcAft>
                <a:spcPts val="0"/>
              </a:spcAft>
              <a:buNone/>
            </a:pPr>
            <a:r>
              <a:rPr lang="en-GB" sz="4016">
                <a:solidFill>
                  <a:schemeClr val="dk1"/>
                </a:solidFill>
                <a:latin typeface="Montserrat Medium"/>
                <a:ea typeface="Montserrat Medium"/>
                <a:cs typeface="Montserrat Medium"/>
                <a:sym typeface="Montserrat Medium"/>
              </a:rPr>
              <a:t>Roll No.: 150096725213</a:t>
            </a:r>
            <a:endParaRPr sz="4016">
              <a:solidFill>
                <a:schemeClr val="dk1"/>
              </a:solidFill>
              <a:latin typeface="Montserrat Medium"/>
              <a:ea typeface="Montserrat Medium"/>
              <a:cs typeface="Montserrat Medium"/>
              <a:sym typeface="Montserrat Medium"/>
            </a:endParaRPr>
          </a:p>
          <a:p>
            <a:pPr indent="0" lvl="0" marL="0" rtl="0" algn="ctr">
              <a:spcBef>
                <a:spcPts val="0"/>
              </a:spcBef>
              <a:spcAft>
                <a:spcPts val="0"/>
              </a:spcAft>
              <a:buNone/>
            </a:pPr>
            <a:r>
              <a:rPr lang="en-GB" sz="4016">
                <a:solidFill>
                  <a:schemeClr val="dk1"/>
                </a:solidFill>
                <a:latin typeface="Montserrat Medium"/>
                <a:ea typeface="Montserrat Medium"/>
                <a:cs typeface="Montserrat Medium"/>
                <a:sym typeface="Montserrat Medium"/>
              </a:rPr>
              <a:t>BTech-CSE2025-29</a:t>
            </a:r>
            <a:endParaRPr sz="4016">
              <a:solidFill>
                <a:schemeClr val="dk1"/>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4016">
              <a:solidFill>
                <a:schemeClr val="dk1"/>
              </a:solidFill>
              <a:latin typeface="Montserrat Medium"/>
              <a:ea typeface="Montserrat Medium"/>
              <a:cs typeface="Montserrat Medium"/>
              <a:sym typeface="Montserrat Medium"/>
            </a:endParaRPr>
          </a:p>
        </p:txBody>
      </p:sp>
      <p:pic>
        <p:nvPicPr>
          <p:cNvPr id="56" name="Google Shape;56;p13" title="download.png"/>
          <p:cNvPicPr preferRelativeResize="0"/>
          <p:nvPr/>
        </p:nvPicPr>
        <p:blipFill>
          <a:blip r:embed="rId3">
            <a:alphaModFix/>
          </a:blip>
          <a:stretch>
            <a:fillRect/>
          </a:stretch>
        </p:blipFill>
        <p:spPr>
          <a:xfrm>
            <a:off x="2662238" y="942350"/>
            <a:ext cx="3819525" cy="1200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68750" y="369375"/>
            <a:ext cx="8652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A81B50"/>
                </a:solidFill>
                <a:latin typeface="Montserrat Medium"/>
                <a:ea typeface="Montserrat Medium"/>
                <a:cs typeface="Montserrat Medium"/>
                <a:sym typeface="Montserrat Medium"/>
              </a:rPr>
              <a:t>Index</a:t>
            </a:r>
            <a:endParaRPr>
              <a:solidFill>
                <a:srgbClr val="A81B50"/>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Montserrat"/>
              <a:buAutoNum type="arabicPeriod"/>
            </a:pPr>
            <a:r>
              <a:rPr lang="en-GB">
                <a:solidFill>
                  <a:schemeClr val="dk1"/>
                </a:solidFill>
                <a:latin typeface="Montserrat"/>
                <a:ea typeface="Montserrat"/>
                <a:cs typeface="Montserrat"/>
                <a:sym typeface="Montserrat"/>
              </a:rPr>
              <a:t>Problem Statement</a:t>
            </a:r>
            <a:endParaRPr>
              <a:solidFill>
                <a:schemeClr val="dk1"/>
              </a:solidFill>
              <a:latin typeface="Montserrat"/>
              <a:ea typeface="Montserrat"/>
              <a:cs typeface="Montserrat"/>
              <a:sym typeface="Montserrat"/>
            </a:endParaRPr>
          </a:p>
          <a:p>
            <a:pPr indent="-342900" lvl="0" marL="457200" rtl="0" algn="l">
              <a:spcBef>
                <a:spcPts val="0"/>
              </a:spcBef>
              <a:spcAft>
                <a:spcPts val="0"/>
              </a:spcAft>
              <a:buClr>
                <a:schemeClr val="dk1"/>
              </a:buClr>
              <a:buSzPts val="1800"/>
              <a:buFont typeface="Montserrat"/>
              <a:buAutoNum type="arabicPeriod"/>
            </a:pPr>
            <a:r>
              <a:rPr lang="en-GB">
                <a:solidFill>
                  <a:schemeClr val="dk1"/>
                </a:solidFill>
                <a:latin typeface="Montserrat"/>
                <a:ea typeface="Montserrat"/>
                <a:cs typeface="Montserrat"/>
                <a:sym typeface="Montserrat"/>
              </a:rPr>
              <a:t>Solution</a:t>
            </a:r>
            <a:endParaRPr>
              <a:solidFill>
                <a:schemeClr val="dk1"/>
              </a:solidFill>
              <a:latin typeface="Montserrat"/>
              <a:ea typeface="Montserrat"/>
              <a:cs typeface="Montserrat"/>
              <a:sym typeface="Montserrat"/>
            </a:endParaRPr>
          </a:p>
          <a:p>
            <a:pPr indent="-342900" lvl="0" marL="457200" rtl="0" algn="l">
              <a:spcBef>
                <a:spcPts val="0"/>
              </a:spcBef>
              <a:spcAft>
                <a:spcPts val="0"/>
              </a:spcAft>
              <a:buClr>
                <a:schemeClr val="dk1"/>
              </a:buClr>
              <a:buSzPts val="1800"/>
              <a:buFont typeface="Montserrat"/>
              <a:buAutoNum type="arabicPeriod"/>
            </a:pPr>
            <a:r>
              <a:rPr lang="en-GB">
                <a:solidFill>
                  <a:schemeClr val="dk1"/>
                </a:solidFill>
                <a:latin typeface="Montserrat"/>
                <a:ea typeface="Montserrat"/>
                <a:cs typeface="Montserrat"/>
                <a:sym typeface="Montserrat"/>
              </a:rPr>
              <a:t>Working (Method/Mind map)</a:t>
            </a:r>
            <a:endParaRPr>
              <a:solidFill>
                <a:schemeClr val="dk1"/>
              </a:solidFill>
              <a:latin typeface="Montserrat"/>
              <a:ea typeface="Montserrat"/>
              <a:cs typeface="Montserrat"/>
              <a:sym typeface="Montserrat"/>
            </a:endParaRPr>
          </a:p>
          <a:p>
            <a:pPr indent="-342900" lvl="0" marL="457200" rtl="0" algn="l">
              <a:spcBef>
                <a:spcPts val="0"/>
              </a:spcBef>
              <a:spcAft>
                <a:spcPts val="0"/>
              </a:spcAft>
              <a:buClr>
                <a:schemeClr val="dk1"/>
              </a:buClr>
              <a:buSzPts val="1800"/>
              <a:buFont typeface="Montserrat"/>
              <a:buAutoNum type="arabicPeriod"/>
            </a:pPr>
            <a:r>
              <a:rPr lang="en-GB">
                <a:solidFill>
                  <a:schemeClr val="dk1"/>
                </a:solidFill>
                <a:latin typeface="Montserrat"/>
                <a:ea typeface="Montserrat"/>
                <a:cs typeface="Montserrat"/>
                <a:sym typeface="Montserrat"/>
              </a:rPr>
              <a:t>Conclusion.</a:t>
            </a:r>
            <a:endParaRPr>
              <a:solidFill>
                <a:schemeClr val="dk1"/>
              </a:solidFill>
              <a:latin typeface="Montserrat"/>
              <a:ea typeface="Montserrat"/>
              <a:cs typeface="Montserrat"/>
              <a:sym typeface="Montserrat"/>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Montserrat Medium"/>
                <a:ea typeface="Montserrat Medium"/>
                <a:cs typeface="Montserrat Medium"/>
                <a:sym typeface="Montserrat Medium"/>
              </a:rPr>
              <a:t>PROBLEM STATEMENT</a:t>
            </a:r>
            <a:endParaRPr>
              <a:latin typeface="Montserrat Medium"/>
              <a:ea typeface="Montserrat Medium"/>
              <a:cs typeface="Montserrat Medium"/>
              <a:sym typeface="Montserrat Medium"/>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sz="1200">
                <a:solidFill>
                  <a:schemeClr val="dk1"/>
                </a:solidFill>
                <a:latin typeface="Montserrat"/>
                <a:ea typeface="Montserrat"/>
                <a:cs typeface="Montserrat"/>
                <a:sym typeface="Montserrat"/>
              </a:rPr>
              <a:t>Students often struggle to find internships because the information is scattered across many different websites. Searching for opportunities takes a lot of time, and it becomes difficult to find internships that match a student’s university major or preferred location. Many students also want to know whether an internship is remote or on-site and how long it will last. Because of this, there is a need for a simple platform where students can easily search and filter internships based on their preferences. The goal of this project is to create a system that helps students quickly discover internships that suit their interests, location, and duration.</a:t>
            </a:r>
            <a:endParaRPr sz="1200">
              <a:solidFill>
                <a:schemeClr val="dk1"/>
              </a:solidFill>
              <a:latin typeface="Montserrat"/>
              <a:ea typeface="Montserrat"/>
              <a:cs typeface="Montserrat"/>
              <a:sym typeface="Montserrat"/>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Montserrat Medium"/>
                <a:ea typeface="Montserrat Medium"/>
                <a:cs typeface="Montserrat Medium"/>
                <a:sym typeface="Montserrat Medium"/>
              </a:rPr>
              <a:t>Solution</a:t>
            </a:r>
            <a:endParaRPr>
              <a:latin typeface="Montserrat Medium"/>
              <a:ea typeface="Montserrat Medium"/>
              <a:cs typeface="Montserrat Medium"/>
              <a:sym typeface="Montserrat Medium"/>
            </a:endParaRPr>
          </a:p>
        </p:txBody>
      </p:sp>
      <p:sp>
        <p:nvSpPr>
          <p:cNvPr id="74" name="Google Shape;74;p1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To solve this problem, we created a simple internship listing platform called InternPath. This website gathers internship information in one place and allows students to explore different opportunities easily. The platform shows internship listings, company details, and important information like duration and location. Students can also identify remote internships through special tags. The project was developed using HTML to create the structure of the web pages, CSS to design and style the interface, and JavaScript to add interactive features such as filters and search options.</a:t>
            </a:r>
            <a:endParaRPr sz="1200">
              <a:solidFill>
                <a:schemeClr val="dk1"/>
              </a:solidFill>
              <a:latin typeface="Montserrat"/>
              <a:ea typeface="Montserrat"/>
              <a:cs typeface="Montserrat"/>
              <a:sym typeface="Montserrat"/>
            </a:endParaRPr>
          </a:p>
          <a:p>
            <a:pPr indent="0" lvl="0" marL="0" rtl="0" algn="l">
              <a:spcBef>
                <a:spcPts val="1200"/>
              </a:spcBef>
              <a:spcAft>
                <a:spcPts val="1200"/>
              </a:spcAft>
              <a:buNone/>
            </a:pPr>
            <a:r>
              <a:t/>
            </a:r>
            <a:endParaRPr sz="1200">
              <a:solidFill>
                <a:schemeClr val="dk1"/>
              </a:solidFill>
              <a:latin typeface="Montserrat"/>
              <a:ea typeface="Montserrat"/>
              <a:cs typeface="Montserrat"/>
              <a:sym typeface="Montserrat"/>
            </a:endParaRPr>
          </a:p>
        </p:txBody>
      </p:sp>
      <p:sp>
        <p:nvSpPr>
          <p:cNvPr id="75" name="Google Shape;75;p16"/>
          <p:cNvSpPr txBox="1"/>
          <p:nvPr>
            <p:ph idx="2" type="body"/>
          </p:nvPr>
        </p:nvSpPr>
        <p:spPr>
          <a:xfrm>
            <a:off x="4832400" y="775375"/>
            <a:ext cx="3999900" cy="3793500"/>
          </a:xfrm>
          <a:prstGeom prst="rect">
            <a:avLst/>
          </a:prstGeom>
        </p:spPr>
        <p:txBody>
          <a:bodyPr anchorCtr="0" anchor="t" bIns="91425" lIns="91425" spcFirstLastPara="1" rIns="91425" wrap="square" tIns="91425">
            <a:normAutofit fontScale="85000" lnSpcReduction="20000"/>
          </a:bodyPr>
          <a:lstStyle/>
          <a:p>
            <a:pPr indent="0" lvl="0" marL="0" rtl="0" algn="l">
              <a:lnSpc>
                <a:spcPct val="95000"/>
              </a:lnSpc>
              <a:spcBef>
                <a:spcPts val="0"/>
              </a:spcBef>
              <a:spcAft>
                <a:spcPts val="0"/>
              </a:spcAft>
              <a:buClr>
                <a:schemeClr val="dk1"/>
              </a:buClr>
              <a:buSzPct val="26190"/>
              <a:buFont typeface="Arial"/>
              <a:buNone/>
            </a:pPr>
            <a:r>
              <a:rPr lang="en-GB" sz="1050">
                <a:solidFill>
                  <a:schemeClr val="dk1"/>
                </a:solidFill>
                <a:latin typeface="Montserrat"/>
                <a:ea typeface="Montserrat"/>
                <a:cs typeface="Montserrat"/>
                <a:sym typeface="Montserrat"/>
              </a:rPr>
              <a:t>InternPath</a:t>
            </a:r>
            <a:endParaRPr sz="1050">
              <a:solidFill>
                <a:schemeClr val="dk1"/>
              </a:solidFill>
              <a:latin typeface="Montserrat"/>
              <a:ea typeface="Montserrat"/>
              <a:cs typeface="Montserrat"/>
              <a:sym typeface="Montserrat"/>
            </a:endParaRPr>
          </a:p>
          <a:p>
            <a:pPr indent="0" lvl="0" marL="0" rtl="0" algn="l">
              <a:lnSpc>
                <a:spcPct val="95000"/>
              </a:lnSpc>
              <a:spcBef>
                <a:spcPts val="1200"/>
              </a:spcBef>
              <a:spcAft>
                <a:spcPts val="0"/>
              </a:spcAft>
              <a:buClr>
                <a:schemeClr val="dk1"/>
              </a:buClr>
              <a:buSzPct val="26190"/>
              <a:buFont typeface="Arial"/>
              <a:buNone/>
            </a:pPr>
            <a:r>
              <a:rPr lang="en-GB" sz="1050">
                <a:solidFill>
                  <a:schemeClr val="dk1"/>
                </a:solidFill>
                <a:latin typeface="Montserrat"/>
                <a:ea typeface="Montserrat"/>
                <a:cs typeface="Montserrat"/>
                <a:sym typeface="Montserrat"/>
              </a:rPr>
              <a:t>│</a:t>
            </a:r>
            <a:endParaRPr sz="1050">
              <a:solidFill>
                <a:schemeClr val="dk1"/>
              </a:solidFill>
              <a:latin typeface="Montserrat"/>
              <a:ea typeface="Montserrat"/>
              <a:cs typeface="Montserrat"/>
              <a:sym typeface="Montserrat"/>
            </a:endParaRPr>
          </a:p>
          <a:p>
            <a:pPr indent="0" lvl="0" marL="0" rtl="0" algn="l">
              <a:lnSpc>
                <a:spcPct val="95000"/>
              </a:lnSpc>
              <a:spcBef>
                <a:spcPts val="1200"/>
              </a:spcBef>
              <a:spcAft>
                <a:spcPts val="0"/>
              </a:spcAft>
              <a:buClr>
                <a:schemeClr val="dk1"/>
              </a:buClr>
              <a:buSzPct val="26190"/>
              <a:buFont typeface="Arial"/>
              <a:buNone/>
            </a:pPr>
            <a:r>
              <a:rPr lang="en-GB" sz="1050">
                <a:solidFill>
                  <a:schemeClr val="dk1"/>
                </a:solidFill>
                <a:latin typeface="Montserrat"/>
                <a:ea typeface="Montserrat"/>
                <a:cs typeface="Montserrat"/>
                <a:sym typeface="Montserrat"/>
              </a:rPr>
              <a:t>├── images/</a:t>
            </a:r>
            <a:endParaRPr sz="1050">
              <a:solidFill>
                <a:schemeClr val="dk1"/>
              </a:solidFill>
              <a:latin typeface="Montserrat"/>
              <a:ea typeface="Montserrat"/>
              <a:cs typeface="Montserrat"/>
              <a:sym typeface="Montserrat"/>
            </a:endParaRPr>
          </a:p>
          <a:p>
            <a:pPr indent="0" lvl="0" marL="0" rtl="0" algn="l">
              <a:lnSpc>
                <a:spcPct val="95000"/>
              </a:lnSpc>
              <a:spcBef>
                <a:spcPts val="1200"/>
              </a:spcBef>
              <a:spcAft>
                <a:spcPts val="0"/>
              </a:spcAft>
              <a:buClr>
                <a:schemeClr val="dk1"/>
              </a:buClr>
              <a:buSzPct val="26190"/>
              <a:buFont typeface="Arial"/>
              <a:buNone/>
            </a:pPr>
            <a:r>
              <a:rPr lang="en-GB" sz="1050">
                <a:solidFill>
                  <a:schemeClr val="dk1"/>
                </a:solidFill>
                <a:latin typeface="Montserrat"/>
                <a:ea typeface="Montserrat"/>
                <a:cs typeface="Montserrat"/>
                <a:sym typeface="Montserrat"/>
              </a:rPr>
              <a:t>│</a:t>
            </a:r>
            <a:endParaRPr sz="1050">
              <a:solidFill>
                <a:schemeClr val="dk1"/>
              </a:solidFill>
              <a:latin typeface="Montserrat"/>
              <a:ea typeface="Montserrat"/>
              <a:cs typeface="Montserrat"/>
              <a:sym typeface="Montserrat"/>
            </a:endParaRPr>
          </a:p>
          <a:p>
            <a:pPr indent="0" lvl="0" marL="0" rtl="0" algn="l">
              <a:lnSpc>
                <a:spcPct val="95000"/>
              </a:lnSpc>
              <a:spcBef>
                <a:spcPts val="1200"/>
              </a:spcBef>
              <a:spcAft>
                <a:spcPts val="0"/>
              </a:spcAft>
              <a:buClr>
                <a:schemeClr val="dk1"/>
              </a:buClr>
              <a:buSzPct val="26190"/>
              <a:buFont typeface="Arial"/>
              <a:buNone/>
            </a:pPr>
            <a:r>
              <a:rPr lang="en-GB" sz="1050">
                <a:solidFill>
                  <a:schemeClr val="dk1"/>
                </a:solidFill>
                <a:latin typeface="Montserrat"/>
                <a:ea typeface="Montserrat"/>
                <a:cs typeface="Montserrat"/>
                <a:sym typeface="Montserrat"/>
              </a:rPr>
              <a:t>├── index.html        → Homepage of the website</a:t>
            </a:r>
            <a:endParaRPr sz="1050">
              <a:solidFill>
                <a:schemeClr val="dk1"/>
              </a:solidFill>
              <a:latin typeface="Montserrat"/>
              <a:ea typeface="Montserrat"/>
              <a:cs typeface="Montserrat"/>
              <a:sym typeface="Montserrat"/>
            </a:endParaRPr>
          </a:p>
          <a:p>
            <a:pPr indent="0" lvl="0" marL="0" rtl="0" algn="l">
              <a:lnSpc>
                <a:spcPct val="95000"/>
              </a:lnSpc>
              <a:spcBef>
                <a:spcPts val="1200"/>
              </a:spcBef>
              <a:spcAft>
                <a:spcPts val="0"/>
              </a:spcAft>
              <a:buClr>
                <a:schemeClr val="dk1"/>
              </a:buClr>
              <a:buSzPct val="26190"/>
              <a:buFont typeface="Arial"/>
              <a:buNone/>
            </a:pPr>
            <a:r>
              <a:rPr lang="en-GB" sz="1050">
                <a:solidFill>
                  <a:schemeClr val="dk1"/>
                </a:solidFill>
                <a:latin typeface="Montserrat"/>
                <a:ea typeface="Montserrat"/>
                <a:cs typeface="Montserrat"/>
                <a:sym typeface="Montserrat"/>
              </a:rPr>
              <a:t>│</a:t>
            </a:r>
            <a:endParaRPr sz="1050">
              <a:solidFill>
                <a:schemeClr val="dk1"/>
              </a:solidFill>
              <a:latin typeface="Montserrat"/>
              <a:ea typeface="Montserrat"/>
              <a:cs typeface="Montserrat"/>
              <a:sym typeface="Montserrat"/>
            </a:endParaRPr>
          </a:p>
          <a:p>
            <a:pPr indent="0" lvl="0" marL="0" rtl="0" algn="l">
              <a:lnSpc>
                <a:spcPct val="95000"/>
              </a:lnSpc>
              <a:spcBef>
                <a:spcPts val="1200"/>
              </a:spcBef>
              <a:spcAft>
                <a:spcPts val="0"/>
              </a:spcAft>
              <a:buClr>
                <a:schemeClr val="dk1"/>
              </a:buClr>
              <a:buSzPct val="26190"/>
              <a:buFont typeface="Arial"/>
              <a:buNone/>
            </a:pPr>
            <a:r>
              <a:rPr lang="en-GB" sz="1050">
                <a:solidFill>
                  <a:schemeClr val="dk1"/>
                </a:solidFill>
                <a:latin typeface="Montserrat"/>
                <a:ea typeface="Montserrat"/>
                <a:cs typeface="Montserrat"/>
                <a:sym typeface="Montserrat"/>
              </a:rPr>
              <a:t>├── jobs.html         → Displays all internship listings</a:t>
            </a:r>
            <a:endParaRPr sz="1050">
              <a:solidFill>
                <a:schemeClr val="dk1"/>
              </a:solidFill>
              <a:latin typeface="Montserrat"/>
              <a:ea typeface="Montserrat"/>
              <a:cs typeface="Montserrat"/>
              <a:sym typeface="Montserrat"/>
            </a:endParaRPr>
          </a:p>
          <a:p>
            <a:pPr indent="0" lvl="0" marL="0" rtl="0" algn="l">
              <a:lnSpc>
                <a:spcPct val="95000"/>
              </a:lnSpc>
              <a:spcBef>
                <a:spcPts val="1200"/>
              </a:spcBef>
              <a:spcAft>
                <a:spcPts val="0"/>
              </a:spcAft>
              <a:buClr>
                <a:schemeClr val="dk1"/>
              </a:buClr>
              <a:buSzPct val="26190"/>
              <a:buFont typeface="Arial"/>
              <a:buNone/>
            </a:pPr>
            <a:r>
              <a:rPr lang="en-GB" sz="1050">
                <a:solidFill>
                  <a:schemeClr val="dk1"/>
                </a:solidFill>
                <a:latin typeface="Montserrat"/>
                <a:ea typeface="Montserrat"/>
                <a:cs typeface="Montserrat"/>
                <a:sym typeface="Montserrat"/>
              </a:rPr>
              <a:t>│</a:t>
            </a:r>
            <a:endParaRPr sz="1050">
              <a:solidFill>
                <a:schemeClr val="dk1"/>
              </a:solidFill>
              <a:latin typeface="Montserrat"/>
              <a:ea typeface="Montserrat"/>
              <a:cs typeface="Montserrat"/>
              <a:sym typeface="Montserrat"/>
            </a:endParaRPr>
          </a:p>
          <a:p>
            <a:pPr indent="0" lvl="0" marL="0" rtl="0" algn="l">
              <a:lnSpc>
                <a:spcPct val="95000"/>
              </a:lnSpc>
              <a:spcBef>
                <a:spcPts val="1200"/>
              </a:spcBef>
              <a:spcAft>
                <a:spcPts val="0"/>
              </a:spcAft>
              <a:buClr>
                <a:schemeClr val="dk1"/>
              </a:buClr>
              <a:buSzPct val="26190"/>
              <a:buFont typeface="Arial"/>
              <a:buNone/>
            </a:pPr>
            <a:r>
              <a:rPr lang="en-GB" sz="1050">
                <a:solidFill>
                  <a:schemeClr val="dk1"/>
                </a:solidFill>
                <a:latin typeface="Montserrat"/>
                <a:ea typeface="Montserrat"/>
                <a:cs typeface="Montserrat"/>
                <a:sym typeface="Montserrat"/>
              </a:rPr>
              <a:t>├── filters.html      → Allows students to apply filters</a:t>
            </a:r>
            <a:endParaRPr sz="1050">
              <a:solidFill>
                <a:schemeClr val="dk1"/>
              </a:solidFill>
              <a:latin typeface="Montserrat"/>
              <a:ea typeface="Montserrat"/>
              <a:cs typeface="Montserrat"/>
              <a:sym typeface="Montserrat"/>
            </a:endParaRPr>
          </a:p>
          <a:p>
            <a:pPr indent="0" lvl="0" marL="0" rtl="0" algn="l">
              <a:lnSpc>
                <a:spcPct val="95000"/>
              </a:lnSpc>
              <a:spcBef>
                <a:spcPts val="1200"/>
              </a:spcBef>
              <a:spcAft>
                <a:spcPts val="0"/>
              </a:spcAft>
              <a:buClr>
                <a:schemeClr val="dk1"/>
              </a:buClr>
              <a:buSzPct val="26190"/>
              <a:buFont typeface="Arial"/>
              <a:buNone/>
            </a:pPr>
            <a:r>
              <a:rPr lang="en-GB" sz="1050">
                <a:solidFill>
                  <a:schemeClr val="dk1"/>
                </a:solidFill>
                <a:latin typeface="Montserrat"/>
                <a:ea typeface="Montserrat"/>
                <a:cs typeface="Montserrat"/>
                <a:sym typeface="Montserrat"/>
              </a:rPr>
              <a:t>│</a:t>
            </a:r>
            <a:endParaRPr sz="1050">
              <a:solidFill>
                <a:schemeClr val="dk1"/>
              </a:solidFill>
              <a:latin typeface="Montserrat"/>
              <a:ea typeface="Montserrat"/>
              <a:cs typeface="Montserrat"/>
              <a:sym typeface="Montserrat"/>
            </a:endParaRPr>
          </a:p>
          <a:p>
            <a:pPr indent="0" lvl="0" marL="0" rtl="0" algn="l">
              <a:lnSpc>
                <a:spcPct val="95000"/>
              </a:lnSpc>
              <a:spcBef>
                <a:spcPts val="1200"/>
              </a:spcBef>
              <a:spcAft>
                <a:spcPts val="0"/>
              </a:spcAft>
              <a:buClr>
                <a:schemeClr val="dk1"/>
              </a:buClr>
              <a:buSzPct val="26190"/>
              <a:buFont typeface="Arial"/>
              <a:buNone/>
            </a:pPr>
            <a:r>
              <a:rPr lang="en-GB" sz="1050">
                <a:solidFill>
                  <a:schemeClr val="dk1"/>
                </a:solidFill>
                <a:latin typeface="Montserrat"/>
                <a:ea typeface="Montserrat"/>
                <a:cs typeface="Montserrat"/>
                <a:sym typeface="Montserrat"/>
              </a:rPr>
              <a:t>├── company.html  → Allows to post internships</a:t>
            </a:r>
            <a:endParaRPr sz="1050">
              <a:solidFill>
                <a:schemeClr val="dk1"/>
              </a:solidFill>
              <a:latin typeface="Montserrat"/>
              <a:ea typeface="Montserrat"/>
              <a:cs typeface="Montserrat"/>
              <a:sym typeface="Montserrat"/>
            </a:endParaRPr>
          </a:p>
          <a:p>
            <a:pPr indent="0" lvl="0" marL="0" rtl="0" algn="l">
              <a:lnSpc>
                <a:spcPct val="95000"/>
              </a:lnSpc>
              <a:spcBef>
                <a:spcPts val="1200"/>
              </a:spcBef>
              <a:spcAft>
                <a:spcPts val="0"/>
              </a:spcAft>
              <a:buClr>
                <a:schemeClr val="dk1"/>
              </a:buClr>
              <a:buSzPct val="26190"/>
              <a:buFont typeface="Arial"/>
              <a:buNone/>
            </a:pPr>
            <a:r>
              <a:rPr lang="en-GB" sz="1050">
                <a:solidFill>
                  <a:schemeClr val="dk1"/>
                </a:solidFill>
                <a:latin typeface="Montserrat"/>
                <a:ea typeface="Montserrat"/>
                <a:cs typeface="Montserrat"/>
                <a:sym typeface="Montserrat"/>
              </a:rPr>
              <a:t>├── script.js         → Handles JavaScript functions</a:t>
            </a:r>
            <a:endParaRPr sz="1050">
              <a:solidFill>
                <a:schemeClr val="dk1"/>
              </a:solidFill>
              <a:latin typeface="Montserrat"/>
              <a:ea typeface="Montserrat"/>
              <a:cs typeface="Montserrat"/>
              <a:sym typeface="Montserrat"/>
            </a:endParaRPr>
          </a:p>
          <a:p>
            <a:pPr indent="0" lvl="0" marL="0" rtl="0" algn="l">
              <a:lnSpc>
                <a:spcPct val="95000"/>
              </a:lnSpc>
              <a:spcBef>
                <a:spcPts val="1200"/>
              </a:spcBef>
              <a:spcAft>
                <a:spcPts val="0"/>
              </a:spcAft>
              <a:buClr>
                <a:schemeClr val="dk1"/>
              </a:buClr>
              <a:buSzPct val="26190"/>
              <a:buFont typeface="Arial"/>
              <a:buNone/>
            </a:pPr>
            <a:r>
              <a:rPr lang="en-GB" sz="1050">
                <a:solidFill>
                  <a:schemeClr val="dk1"/>
                </a:solidFill>
                <a:latin typeface="Montserrat"/>
                <a:ea typeface="Montserrat"/>
                <a:cs typeface="Montserrat"/>
                <a:sym typeface="Montserrat"/>
              </a:rPr>
              <a:t>│                       (filters, search, sorting)</a:t>
            </a:r>
            <a:endParaRPr sz="1050">
              <a:solidFill>
                <a:schemeClr val="dk1"/>
              </a:solidFill>
              <a:latin typeface="Montserrat"/>
              <a:ea typeface="Montserrat"/>
              <a:cs typeface="Montserrat"/>
              <a:sym typeface="Montserrat"/>
            </a:endParaRPr>
          </a:p>
          <a:p>
            <a:pPr indent="0" lvl="0" marL="0" rtl="0" algn="l">
              <a:lnSpc>
                <a:spcPct val="95000"/>
              </a:lnSpc>
              <a:spcBef>
                <a:spcPts val="1200"/>
              </a:spcBef>
              <a:spcAft>
                <a:spcPts val="0"/>
              </a:spcAft>
              <a:buClr>
                <a:schemeClr val="dk1"/>
              </a:buClr>
              <a:buSzPct val="26190"/>
              <a:buFont typeface="Arial"/>
              <a:buNone/>
            </a:pPr>
            <a:r>
              <a:rPr lang="en-GB" sz="1050">
                <a:solidFill>
                  <a:schemeClr val="dk1"/>
                </a:solidFill>
                <a:latin typeface="Montserrat"/>
                <a:ea typeface="Montserrat"/>
                <a:cs typeface="Montserrat"/>
                <a:sym typeface="Montserrat"/>
              </a:rPr>
              <a:t>└── style.css         → Provides styling and layout for pages</a:t>
            </a:r>
            <a:endParaRPr sz="1050">
              <a:solidFill>
                <a:schemeClr val="dk1"/>
              </a:solidFill>
              <a:latin typeface="Montserrat"/>
              <a:ea typeface="Montserrat"/>
              <a:cs typeface="Montserrat"/>
              <a:sym typeface="Montserrat"/>
            </a:endParaRPr>
          </a:p>
          <a:p>
            <a:pPr indent="0" lvl="0" marL="0" rtl="0" algn="l">
              <a:lnSpc>
                <a:spcPct val="95000"/>
              </a:lnSpc>
              <a:spcBef>
                <a:spcPts val="1200"/>
              </a:spcBef>
              <a:spcAft>
                <a:spcPts val="1200"/>
              </a:spcAft>
              <a:buSzPct val="78571"/>
              <a:buNone/>
            </a:pPr>
            <a:r>
              <a:t/>
            </a:r>
            <a:endParaRPr sz="35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Montserrat Medium"/>
                <a:ea typeface="Montserrat Medium"/>
                <a:cs typeface="Montserrat Medium"/>
                <a:sym typeface="Montserrat Medium"/>
              </a:rPr>
              <a:t>Working of  </a:t>
            </a:r>
            <a:r>
              <a:rPr lang="en-GB">
                <a:latin typeface="Montserrat Medium"/>
                <a:ea typeface="Montserrat Medium"/>
                <a:cs typeface="Montserrat Medium"/>
                <a:sym typeface="Montserrat Medium"/>
              </a:rPr>
              <a:t>InternPath:</a:t>
            </a:r>
            <a:endParaRPr>
              <a:latin typeface="Montserrat Medium"/>
              <a:ea typeface="Montserrat Medium"/>
              <a:cs typeface="Montserrat Medium"/>
              <a:sym typeface="Montserrat Medium"/>
            </a:endParaRPr>
          </a:p>
        </p:txBody>
      </p:sp>
      <p:sp>
        <p:nvSpPr>
          <p:cNvPr id="81" name="Google Shape;81;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100">
                <a:solidFill>
                  <a:schemeClr val="dk1"/>
                </a:solidFill>
                <a:latin typeface="Montserrat"/>
                <a:ea typeface="Montserrat"/>
                <a:cs typeface="Montserrat"/>
                <a:sym typeface="Montserrat"/>
              </a:rPr>
              <a:t>The working of InternPath starts when companies post internship opportunities on the platform with details such as role, location, duration, and remote availability. These internships are then displayed on the Jobs page of the website. Students visit the homepage and browse the available internship listings. If they want specific results, they can use the filters to select preferences like location, remote internships, or duration. The JavaScript processes these selected filters and shows only the internships that match the student’s requirements. After finding a suitable internship, the student can open the company details page to view more information about the company and the internship role.</a:t>
            </a:r>
            <a:endParaRPr>
              <a:latin typeface="Montserrat"/>
              <a:ea typeface="Montserrat"/>
              <a:cs typeface="Montserrat"/>
              <a:sym typeface="Montserrat"/>
            </a:endParaRPr>
          </a:p>
        </p:txBody>
      </p:sp>
      <p:sp>
        <p:nvSpPr>
          <p:cNvPr id="82" name="Google Shape;82;p17"/>
          <p:cNvSpPr txBox="1"/>
          <p:nvPr>
            <p:ph idx="2" type="body"/>
          </p:nvPr>
        </p:nvSpPr>
        <p:spPr>
          <a:xfrm>
            <a:off x="4832400" y="1152475"/>
            <a:ext cx="3999900" cy="4002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t/>
            </a:r>
            <a:endParaRPr/>
          </a:p>
        </p:txBody>
      </p:sp>
      <p:pic>
        <p:nvPicPr>
          <p:cNvPr id="83" name="Google Shape;83;p17" title="Screenshot 2026-03-11 at 7.42.35 PM.png"/>
          <p:cNvPicPr preferRelativeResize="0"/>
          <p:nvPr/>
        </p:nvPicPr>
        <p:blipFill>
          <a:blip r:embed="rId3">
            <a:alphaModFix/>
          </a:blip>
          <a:stretch>
            <a:fillRect/>
          </a:stretch>
        </p:blipFill>
        <p:spPr>
          <a:xfrm>
            <a:off x="4832400" y="881475"/>
            <a:ext cx="3847249" cy="3286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Montserrat Medium"/>
                <a:ea typeface="Montserrat Medium"/>
                <a:cs typeface="Montserrat Medium"/>
                <a:sym typeface="Montserrat Medium"/>
              </a:rPr>
              <a:t>Conclusion</a:t>
            </a:r>
            <a:endParaRPr>
              <a:latin typeface="Montserrat Medium"/>
              <a:ea typeface="Montserrat Medium"/>
              <a:cs typeface="Montserrat Medium"/>
              <a:sym typeface="Montserrat Medium"/>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200">
                <a:solidFill>
                  <a:schemeClr val="dk1"/>
                </a:solidFill>
                <a:latin typeface="Montserrat"/>
                <a:ea typeface="Montserrat"/>
                <a:cs typeface="Montserrat"/>
                <a:sym typeface="Montserrat"/>
              </a:rPr>
              <a:t>InternPath provides a simple and organized way for students to search for internships. Instead of visiting multiple websites, students can use one platform to explore opportunities and filter them based on their needs. The project demonstrates how basic web technologies like HTML, CSS, and JavaScript can be combined to build a useful web application. In the future, the platform could be improved by adding features such as user login, company accounts for posting internships, and connections to real internship databases to make the system even more useful.</a:t>
            </a:r>
            <a:endParaRPr sz="1200">
              <a:solidFill>
                <a:schemeClr val="dk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81B50"/>
        </a:solidFill>
      </p:bgPr>
    </p:bg>
    <p:spTree>
      <p:nvGrpSpPr>
        <p:cNvPr id="93" name="Shape 93"/>
        <p:cNvGrpSpPr/>
        <p:nvPr/>
      </p:nvGrpSpPr>
      <p:grpSpPr>
        <a:xfrm>
          <a:off x="0" y="0"/>
          <a:ext cx="0" cy="0"/>
          <a:chOff x="0" y="0"/>
          <a:chExt cx="0" cy="0"/>
        </a:xfrm>
      </p:grpSpPr>
      <p:pic>
        <p:nvPicPr>
          <p:cNvPr id="94" name="Google Shape;94;p19" title="download.png"/>
          <p:cNvPicPr preferRelativeResize="0"/>
          <p:nvPr/>
        </p:nvPicPr>
        <p:blipFill>
          <a:blip r:embed="rId3">
            <a:alphaModFix/>
          </a:blip>
          <a:stretch>
            <a:fillRect/>
          </a:stretch>
        </p:blipFill>
        <p:spPr>
          <a:xfrm>
            <a:off x="2662238" y="942350"/>
            <a:ext cx="3819525" cy="1200150"/>
          </a:xfrm>
          <a:prstGeom prst="rect">
            <a:avLst/>
          </a:prstGeom>
          <a:noFill/>
          <a:ln>
            <a:noFill/>
          </a:ln>
        </p:spPr>
      </p:pic>
      <p:sp>
        <p:nvSpPr>
          <p:cNvPr id="95" name="Google Shape;95;p19"/>
          <p:cNvSpPr txBox="1"/>
          <p:nvPr>
            <p:ph type="title"/>
          </p:nvPr>
        </p:nvSpPr>
        <p:spPr>
          <a:xfrm>
            <a:off x="311700" y="2401550"/>
            <a:ext cx="8520600" cy="1077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latin typeface="Montserrat Medium"/>
                <a:ea typeface="Montserrat Medium"/>
                <a:cs typeface="Montserrat Medium"/>
                <a:sym typeface="Montserrat Medium"/>
              </a:rPr>
              <a:t>Thank </a:t>
            </a:r>
            <a:r>
              <a:rPr lang="en-GB">
                <a:latin typeface="Montserrat Medium"/>
                <a:ea typeface="Montserrat Medium"/>
                <a:cs typeface="Montserrat Medium"/>
                <a:sym typeface="Montserrat Medium"/>
              </a:rPr>
              <a:t>you</a:t>
            </a:r>
            <a:endParaRPr>
              <a:latin typeface="Montserrat Medium"/>
              <a:ea typeface="Montserrat Medium"/>
              <a:cs typeface="Montserrat Medium"/>
              <a:sym typeface="Montserrat Medium"/>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